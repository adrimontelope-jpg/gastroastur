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21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</a:rPr>
              <a:t>🍽️ GastroAstur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ED9F5"/>
                </a:solidFill>
              </a:rPr>
              <a:t>Análisis exploratorio de la gastronomía en Asturias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12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Curso de Especialización en IA y Big Data  ·  Convocatoria 2s2526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760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Adrián Montelpe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217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ED9F5"/>
                </a:solidFill>
              </a:rPr>
              <a:t>github.com/adrimontelope-jpg/GastroAstur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1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Índice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9496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7B39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63039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Motivación y contexto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280160"/>
            <a:ext cx="539496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3258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7B39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1463039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Fuentes de datos y metodología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539496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5603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7B39"/>
                </a:solidFill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6974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Pipeline de ingesta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514600"/>
            <a:ext cx="539496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5603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7B39"/>
                </a:solidFill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269748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Limpieza y normalización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749039"/>
            <a:ext cx="539496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794759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7B39"/>
                </a:solidFill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319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Análisis exploratorio — Hallazgos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749039"/>
            <a:ext cx="539496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794759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7B39"/>
                </a:solidFill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9319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Modelo de clasificación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983480"/>
            <a:ext cx="539496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02920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7B39"/>
                </a:solidFill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1663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Dashboard interactivo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983480"/>
            <a:ext cx="5394960" cy="10058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502920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07B39"/>
                </a:solidFill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516636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Conclusiones y vías futuras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1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· Motivación y contexto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73152" cy="64008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Soy asturiano — la gastronomía es una seña de identidad regional clave.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40"/>
            <a:ext cx="73152" cy="64008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6032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No existe ninguna herramienta pública de análisis gastronómico para Asturias.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40480"/>
            <a:ext cx="73152" cy="64008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947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Datos disponibles pero sin explotar: OSM, INE, Wikidata.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074920"/>
            <a:ext cx="73152" cy="64008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444444"/>
                </a:solidFill>
              </a:rPr>
              <a:t>Oportunidad de aplicar el ciclo completo de Big Data a un tema real y cercano.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6217920"/>
            <a:ext cx="10789920" cy="45720"/>
          </a:xfrm>
          <a:prstGeom prst="rect">
            <a:avLst/>
          </a:prstGeom>
          <a:solidFill>
            <a:srgbClr val="21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E75B6"/>
                </a:solidFill>
              </a:rPr>
              <a:t>"Si hay datos, hay respuestas"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1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· Fuentes de datos y metodología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265176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26517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🗺️ OpenStreetMap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5B6"/>
                </a:solidFill>
              </a:rPr>
              <a:t>Overpass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7.568 elementos
restaurantes, bares, cafés, pubs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280160"/>
            <a:ext cx="265176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1280160"/>
            <a:ext cx="26517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📊 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5B6"/>
                </a:solidFill>
              </a:rPr>
              <a:t>API REST tabla 2886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4688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Población 2025
78 municipios asturianos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280160"/>
            <a:ext cx="265176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280160"/>
            <a:ext cx="26517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59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📍 Nominatim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5B6"/>
                </a:solidFill>
              </a:rPr>
              <a:t>OSM Geocoding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59" y="24688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Coordenadas oficiales
15 concejos principales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280160"/>
            <a:ext cx="2651760" cy="4114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280160"/>
            <a:ext cx="2651760" cy="54864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3258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📚 Wikidata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92024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E75B6"/>
                </a:solidFill>
              </a:rPr>
              <a:t>SPARQL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4688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Platos y productos
típicos asturianos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4E79"/>
                </a:solidFill>
              </a:rPr>
              <a:t>Metodología: ETL → EDA → Modelado → Dashboard  (CRISP-DM)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1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· Pipeline de ingesta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828800"/>
            <a:ext cx="192024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Overpass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21031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828800"/>
            <a:ext cx="1920240" cy="1097280"/>
          </a:xfrm>
          <a:prstGeom prst="rect">
            <a:avLst/>
          </a:prstGeom>
          <a:solidFill>
            <a:srgbClr val="21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2011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INE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1031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37760" y="1828800"/>
            <a:ext cx="1920240" cy="109728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2011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Nominatim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1031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1828800"/>
            <a:ext cx="1920240" cy="109728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0" y="2011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Wikidata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103120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4E79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18320" y="1828800"/>
            <a:ext cx="192024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64040" y="20116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data/raw/ 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2918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E75B6"/>
                </a:solidFill>
              </a:rPr>
              <a:t>src/ingesta.py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✓  Pausa de 30s entre peticiones (rate limiting)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348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✓  Metadatos de descarga (fecha, fuente, total elementos)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937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✓  Manejo de errores 429 y 504 con try/except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440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✓  Almacenamiento en JSON con ensure_ascii=False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1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· Limpieza y normalización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</a:rPr>
              <a:t>Antes de limpiar: 7.568 elementos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234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7AE60"/>
                </a:solidFill>
              </a:rPr>
              <a:t>Después de limpiar: 1.562 registros útiles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04688"/>
            <a:ext cx="1828800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44444"/>
                </a:solidFill>
              </a:rPr>
              <a:t>lat/lon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035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4% nulos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4681728"/>
            <a:ext cx="1828800" cy="98755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44444"/>
                </a:solidFill>
              </a:rPr>
              <a:t>amenity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6035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24% nulos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59" y="4393692"/>
            <a:ext cx="1828800" cy="127558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59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44444"/>
                </a:solidFill>
              </a:rPr>
              <a:t>nombre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6035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31% nulos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19" y="2336292"/>
            <a:ext cx="1828800" cy="3332988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19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44444"/>
                </a:solidFill>
              </a:rPr>
              <a:t>ciudad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19" y="6035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81% nulos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26880" y="1677924"/>
            <a:ext cx="1828800" cy="3991356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57150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44444"/>
                </a:solidFill>
              </a:rPr>
              <a:t>cocina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6035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97% nulos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1737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444444"/>
                </a:solidFill>
              </a:rPr>
              <a:t>% de valores nulos por campo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2860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→  dropna(subset=['nombre']): elimina 6.006 elementos sin nombre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834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→  Normalización de ciudades: 'gijón/xixón' → 'gijón', 'oviedo/uviéu' → 'oviedo'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38328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→  Lowercase y strip en nombre, ciudad y cocina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931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→  drop_duplicates(subset='osm_id'): elimina duplicados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1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· Análisis exploratorio — Hallazgos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51760" cy="1645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07B39"/>
                </a:solidFill>
              </a:rPr>
              <a:t>7.568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elementos OSM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280160"/>
            <a:ext cx="2651760" cy="1645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3716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07B39"/>
                </a:solidFill>
              </a:rPr>
              <a:t>1.562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86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registros útiles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280160"/>
            <a:ext cx="2651760" cy="1645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716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07B39"/>
                </a:solidFill>
              </a:rPr>
              <a:t>7,34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286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locales/1000 hab
(Taramundi)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20" y="1280160"/>
            <a:ext cx="2651760" cy="164592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1371600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07B39"/>
                </a:solidFill>
              </a:rPr>
              <a:t>461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2286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restaurantes
de cocina regional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1089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🥇  Taramundi: mayor densidad gastronómica (7,34 locales/1.000 hab)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03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🏙️  Oviedo: 353 locales en total — mayor número absoluto de Asturias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9768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🍲  Cocina regional: la más frecuente con 461 locales (29% del total con cocina)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920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🌱  Solo 19 locales con diet:vegan relleno — limitación de datos OSM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4864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🏡  Concejos rurales del occidente: densidades altas pese a poca población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1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· Modelo de clasificación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4E79"/>
                </a:solidFill>
              </a:rPr>
              <a:t>Random Forest Classifier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Predice el tipo de local (restaurant / bar / cafe / pub)
a partir de cocina y ciudad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292608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74720" y="2651760"/>
            <a:ext cx="8229600" cy="56692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697480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cocina, ciudad, tiene_telefono, tiene_web, tiene_horario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10128"/>
            <a:ext cx="292608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3310128"/>
            <a:ext cx="8229600" cy="56692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5584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Clases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355848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restaurant · bar · cafe · pub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68496"/>
            <a:ext cx="292608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3968496"/>
            <a:ext cx="8229600" cy="56692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014216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Entrenamiento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014216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n_estimators=200, class_weight='balanced'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626864"/>
            <a:ext cx="292608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474720" y="4626864"/>
            <a:ext cx="8229600" cy="56692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672584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Validación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4672584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Cross-validation 5 folds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285231"/>
            <a:ext cx="2926080" cy="5669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74720" y="5285231"/>
            <a:ext cx="8229600" cy="566928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33095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Reto principal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5330952"/>
            <a:ext cx="80467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444444"/>
                </a:solidFill>
              </a:rPr>
              <a:t>Desbalance de clases (restaurant &gt;&gt; resto)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196A6"/>
                </a:solidFill>
              </a:rPr>
              <a:t>💡 Solución: class_weight='balanced' para compensar el desbalance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1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· Dashboard interactivo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2E75B6"/>
                </a:solidFill>
              </a:rPr>
              <a:t>streamlit run src/dashboard.py  →  http://localhost:8501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48640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745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📊  KPIs principales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Total locales, concejos, tipos de cocina, concejo más denso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828800"/>
            <a:ext cx="548640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59" y="1828800"/>
            <a:ext cx="548640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799" y="187451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🗺️  Mapa interactivo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37744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Filtros por tipo de local y cocina, popup con detalles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91840"/>
            <a:ext cx="548640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91840"/>
            <a:ext cx="548640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37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🏙️  Comparativa ciudades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8404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Oviedo vs Gijón vs Avilés por tipo y cocina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3291840"/>
            <a:ext cx="548640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59" y="3291840"/>
            <a:ext cx="548640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799" y="33375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🌍  Cocinas por zona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84048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Oeste / Centro / Este de Asturias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54880"/>
            <a:ext cx="548640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54880"/>
            <a:ext cx="548640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800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🤖  Predicción 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30352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Selecciona cocina y ciudad → predice tipo de local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4754880"/>
            <a:ext cx="5486400" cy="132588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59" y="4754880"/>
            <a:ext cx="5486400" cy="4572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799" y="4800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📚  Wikidata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5303520"/>
            <a:ext cx="5212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</a:rPr>
              <a:t>Tabla de platos y productos típicos asturianos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E07B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08 · Conclusiones y vías futuras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07B39"/>
                </a:solidFill>
              </a:rP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Pipeline completo ETL → EDA → Modelo →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5856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7.568 locales analizados con 4 fuentes de datos abiertas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82549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Taramundi: concejo con mayor densidad gastronómica de Asturias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92424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Cocina regional asturiana: la más frecuente con diferencia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5935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✓  Aplicable en turismo, planificación territorial y análisis económico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196A6"/>
                </a:solidFill>
              </a:rPr>
              <a:t>Vías futuras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ED9F5"/>
                </a:solidFill>
              </a:rPr>
              <a:t>→  Integración con Foursquare (valoraciones)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25856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ED9F5"/>
                </a:solidFill>
              </a:rPr>
              <a:t>→  Despliegue en la nube (Streamlit Cloud)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82549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ED9F5"/>
                </a:solidFill>
              </a:rPr>
              <a:t>→  Automatización del pipeline con cron job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92424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ED9F5"/>
                </a:solidFill>
              </a:rPr>
              <a:t>→  Análisis temporal con datos históricos OSM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95935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ED9F5"/>
                </a:solidFill>
              </a:rPr>
              <a:t>→  Enriquecimiento con datos de HappyCow (vegano)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943600"/>
            <a:ext cx="11064240" cy="548640"/>
          </a:xfrm>
          <a:prstGeom prst="rect">
            <a:avLst/>
          </a:prstGeom>
          <a:solidFill>
            <a:srgbClr val="219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github.com/adrimontelope-jpg/GastroAstur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